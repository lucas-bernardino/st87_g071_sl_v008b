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2" r:id="rId2"/>
    <p:sldId id="266" r:id="rId3"/>
    <p:sldId id="269" r:id="rId4"/>
    <p:sldId id="270" r:id="rId5"/>
    <p:sldId id="263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47097-2AD4-1B25-8473-89327EF90366}" v="9" dt="2026-02-09T13:22:28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9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95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1E6D0-383F-A395-E5B9-A9D26E9D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49FF9-73D2-FB9E-E8C1-3A1EBA6EB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3A848-2BB4-36DF-BD84-92CCE6E44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9E7F2-D921-4CE9-992B-C36171A32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425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164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02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st.com/trademarks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312988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0E53B0-4A6F-4EA6-BAD9-3F108425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21F7501C-E215-48DE-9901-1589EACC1F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828" y="0"/>
            <a:ext cx="6280432" cy="6858000"/>
          </a:xfrm>
          <a:custGeom>
            <a:avLst/>
            <a:gdLst>
              <a:gd name="connsiteX0" fmla="*/ 0 w 6280432"/>
              <a:gd name="connsiteY0" fmla="*/ 0 h 6858000"/>
              <a:gd name="connsiteX1" fmla="*/ 6280432 w 6280432"/>
              <a:gd name="connsiteY1" fmla="*/ 0 h 6858000"/>
              <a:gd name="connsiteX2" fmla="*/ 6280432 w 6280432"/>
              <a:gd name="connsiteY2" fmla="*/ 2281561 h 6858000"/>
              <a:gd name="connsiteX3" fmla="*/ 5466285 w 6280432"/>
              <a:gd name="connsiteY3" fmla="*/ 2281561 h 6858000"/>
              <a:gd name="connsiteX4" fmla="*/ 5466285 w 6280432"/>
              <a:gd name="connsiteY4" fmla="*/ 6858000 h 6858000"/>
              <a:gd name="connsiteX5" fmla="*/ 0 w 628043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0432" h="6858000">
                <a:moveTo>
                  <a:pt x="0" y="0"/>
                </a:moveTo>
                <a:lnTo>
                  <a:pt x="6280432" y="0"/>
                </a:lnTo>
                <a:lnTo>
                  <a:pt x="6280432" y="2281561"/>
                </a:lnTo>
                <a:lnTo>
                  <a:pt x="5466285" y="2281561"/>
                </a:lnTo>
                <a:lnTo>
                  <a:pt x="54662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304272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5701" y="2085976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5701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FC3CE6-78BD-44D0-9BE3-1EF21AC5D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F7C4B5-15B1-42E4-9F81-B5E59B0C5030}"/>
              </a:ext>
            </a:extLst>
          </p:cNvPr>
          <p:cNvSpPr/>
          <p:nvPr/>
        </p:nvSpPr>
        <p:spPr>
          <a:xfrm>
            <a:off x="-228" y="0"/>
            <a:ext cx="1155928" cy="6858000"/>
          </a:xfrm>
          <a:custGeom>
            <a:avLst/>
            <a:gdLst>
              <a:gd name="connsiteX0" fmla="*/ 0 w 1155928"/>
              <a:gd name="connsiteY0" fmla="*/ 0 h 6858000"/>
              <a:gd name="connsiteX1" fmla="*/ 439056 w 1155928"/>
              <a:gd name="connsiteY1" fmla="*/ 0 h 6858000"/>
              <a:gd name="connsiteX2" fmla="*/ 1155928 w 1155928"/>
              <a:gd name="connsiteY2" fmla="*/ 0 h 6858000"/>
              <a:gd name="connsiteX3" fmla="*/ 1155928 w 1155928"/>
              <a:gd name="connsiteY3" fmla="*/ 1714500 h 6858000"/>
              <a:gd name="connsiteX4" fmla="*/ 439056 w 1155928"/>
              <a:gd name="connsiteY4" fmla="*/ 1714500 h 6858000"/>
              <a:gd name="connsiteX5" fmla="*/ 439056 w 1155928"/>
              <a:gd name="connsiteY5" fmla="*/ 6858000 h 6858000"/>
              <a:gd name="connsiteX6" fmla="*/ 0 w 11559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928" h="6858000">
                <a:moveTo>
                  <a:pt x="0" y="0"/>
                </a:moveTo>
                <a:lnTo>
                  <a:pt x="439056" y="0"/>
                </a:lnTo>
                <a:lnTo>
                  <a:pt x="1155928" y="0"/>
                </a:lnTo>
                <a:lnTo>
                  <a:pt x="1155928" y="1714500"/>
                </a:lnTo>
                <a:lnTo>
                  <a:pt x="439056" y="1714500"/>
                </a:lnTo>
                <a:lnTo>
                  <a:pt x="4390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10E20D-C2F4-4C57-9379-900BECBE5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CCF378-34BF-4EE7-87EE-0F21AAF7F2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noFill/>
        </p:spPr>
        <p:txBody>
          <a:bodyPr vert="horz" wrap="none" lIns="91440" tIns="45720" rIns="90000" bIns="45720" rtlCol="0" anchor="ctr">
            <a:noAutofit/>
          </a:bodyPr>
          <a:lstStyle>
            <a:lvl1pPr algn="ctr">
              <a:buClr>
                <a:schemeClr val="tx1"/>
              </a:buClr>
              <a:defRPr lang="en-US" baseline="0">
                <a:solidFill>
                  <a:schemeClr val="bg2"/>
                </a:solidFill>
              </a:defRPr>
            </a:lvl1pPr>
          </a:lstStyle>
          <a:p>
            <a:pPr marL="261938" lvl="0" indent="-261938" algn="ctr"/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2E30E9-1079-4CF5-8813-8B65FB05D6D8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D6E22D-9F81-4B7A-A71E-BBB4177578ED}"/>
                </a:ext>
              </a:extLst>
            </p:cNvPr>
            <p:cNvGrpSpPr/>
            <p:nvPr userDrawn="1"/>
          </p:nvGrpSpPr>
          <p:grpSpPr>
            <a:xfrm>
              <a:off x="-1" y="4152900"/>
              <a:ext cx="12191999" cy="2705100"/>
              <a:chOff x="1" y="4152900"/>
              <a:chExt cx="12191999" cy="2705100"/>
            </a:xfrm>
          </p:grpSpPr>
          <p:sp>
            <p:nvSpPr>
              <p:cNvPr id="9" name="Freeform 21">
                <a:extLst>
                  <a:ext uri="{FF2B5EF4-FFF2-40B4-BE49-F238E27FC236}">
                    <a16:creationId xmlns:a16="http://schemas.microsoft.com/office/drawing/2014/main" id="{B428783B-02FD-4849-BFB2-D1C2BC8E88B5}"/>
                  </a:ext>
                </a:extLst>
              </p:cNvPr>
              <p:cNvSpPr/>
              <p:nvPr/>
            </p:nvSpPr>
            <p:spPr>
              <a:xfrm>
                <a:off x="1" y="4152900"/>
                <a:ext cx="12191999" cy="2705100"/>
              </a:xfrm>
              <a:custGeom>
                <a:avLst/>
                <a:gdLst>
                  <a:gd name="connsiteX0" fmla="*/ 0 w 12191999"/>
                  <a:gd name="connsiteY0" fmla="*/ 0 h 2705100"/>
                  <a:gd name="connsiteX1" fmla="*/ 1104899 w 12191999"/>
                  <a:gd name="connsiteY1" fmla="*/ 0 h 2705100"/>
                  <a:gd name="connsiteX2" fmla="*/ 1104899 w 12191999"/>
                  <a:gd name="connsiteY2" fmla="*/ 1422400 h 2705100"/>
                  <a:gd name="connsiteX3" fmla="*/ 12191999 w 12191999"/>
                  <a:gd name="connsiteY3" fmla="*/ 1422400 h 2705100"/>
                  <a:gd name="connsiteX4" fmla="*/ 12191999 w 12191999"/>
                  <a:gd name="connsiteY4" fmla="*/ 2705100 h 2705100"/>
                  <a:gd name="connsiteX5" fmla="*/ 1 w 12191999"/>
                  <a:gd name="connsiteY5" fmla="*/ 2705100 h 2705100"/>
                  <a:gd name="connsiteX6" fmla="*/ 1 w 12191999"/>
                  <a:gd name="connsiteY6" fmla="*/ 1543050 h 2705100"/>
                  <a:gd name="connsiteX7" fmla="*/ 0 w 12191999"/>
                  <a:gd name="connsiteY7" fmla="*/ 1543050 h 270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1999" h="2705100">
                    <a:moveTo>
                      <a:pt x="0" y="0"/>
                    </a:moveTo>
                    <a:lnTo>
                      <a:pt x="1104899" y="0"/>
                    </a:lnTo>
                    <a:lnTo>
                      <a:pt x="1104899" y="1422400"/>
                    </a:lnTo>
                    <a:lnTo>
                      <a:pt x="12191999" y="1422400"/>
                    </a:lnTo>
                    <a:lnTo>
                      <a:pt x="12191999" y="2705100"/>
                    </a:lnTo>
                    <a:lnTo>
                      <a:pt x="1" y="2705100"/>
                    </a:lnTo>
                    <a:lnTo>
                      <a:pt x="1" y="1543050"/>
                    </a:lnTo>
                    <a:lnTo>
                      <a:pt x="0" y="1543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B1C6E9-C7C0-445A-8911-23E57FA33B25}"/>
                  </a:ext>
                </a:extLst>
              </p:cNvPr>
              <p:cNvSpPr/>
              <p:nvPr/>
            </p:nvSpPr>
            <p:spPr>
              <a:xfrm>
                <a:off x="219560" y="5822714"/>
                <a:ext cx="93952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  <a:t>© STMicroelectronics - All rights reserved.</a:t>
                </a:r>
                <a:b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ST logo is a trademark or a registered trademark of STMicroelectronics International NV or its affiliates in the EU and/or other countries. For additional information about ST trademarks, please refer to 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www.st.com/trademarks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b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All other product or service names are the property of their respective owners.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B3C9C090-4752-447B-8BD0-B05186572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7C8CE8D-FE25-40F5-A966-5717F85ACF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9336" y="1565049"/>
            <a:ext cx="6273328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8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 userDrawn="1"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 userDrawn="1"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 userDrawn="1"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 userDrawn="1"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 userDrawn="1"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 userDrawn="1"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 userDrawn="1"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 userDrawn="1"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 userDrawn="1"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 userDrawn="1"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 userDrawn="1"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 userDrawn="1"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 userDrawn="1"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 userDrawn="1"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 userDrawn="1"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 userDrawn="1"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 userDrawn="1"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 userDrawn="1"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 userDrawn="1"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 userDrawn="1"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 userDrawn="1"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 userDrawn="1"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 userDrawn="1"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 userDrawn="1"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 userDrawn="1"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 userDrawn="1"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 userDrawn="1"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 userDrawn="1"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 userDrawn="1"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 userDrawn="1"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 userDrawn="1"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 userDrawn="1"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 userDrawn="1"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2/9/2026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FDDB0F-ED8A-C960-FC21-5AC8D116E9B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090275" y="6611620"/>
            <a:ext cx="108108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hyperlink" Target="http://www.st.com/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seo.st.com/toolbox/shortcuts/" TargetMode="Externa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Street Light Demo FW</a:t>
            </a:r>
            <a:endParaRPr lang="en-US" b="0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Presenter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941CBF0-B8C1-4307-BE5E-812E82EBC4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/>
          <a:lstStyle/>
          <a:p>
            <a:pPr>
              <a:spcAft>
                <a:spcPct val="0"/>
              </a:spcAft>
            </a:pPr>
            <a:r>
              <a:rPr lang="en-US" dirty="0">
                <a:latin typeface="Arial"/>
                <a:cs typeface="Arial"/>
              </a:rPr>
              <a:t>STM32CubeProgrammer – Pre-configuration</a:t>
            </a:r>
            <a:endParaRPr lang="en-US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BAC7F02-6C9F-2E65-98A3-A91BFFF9A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854" y="1006046"/>
            <a:ext cx="2438400" cy="52578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B01C79-B1DA-3EF0-03B5-AF729BB57A3E}"/>
              </a:ext>
            </a:extLst>
          </p:cNvPr>
          <p:cNvCxnSpPr/>
          <p:nvPr/>
        </p:nvCxnSpPr>
        <p:spPr>
          <a:xfrm flipH="1" flipV="1">
            <a:off x="3742038" y="1280982"/>
            <a:ext cx="506629" cy="341871"/>
          </a:xfrm>
          <a:prstGeom prst="straightConnector1">
            <a:avLst/>
          </a:prstGeom>
          <a:ln w="22225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3EC3A5-E8DA-62A9-D3D5-C053E43C977B}"/>
              </a:ext>
            </a:extLst>
          </p:cNvPr>
          <p:cNvSpPr txBox="1"/>
          <p:nvPr/>
        </p:nvSpPr>
        <p:spPr>
          <a:xfrm>
            <a:off x="3849825" y="1088221"/>
            <a:ext cx="3129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  <a:cs typeface="Arial"/>
              </a:rPr>
              <a:t>1</a:t>
            </a:r>
            <a:endParaRPr lang="en-US">
              <a:solidFill>
                <a:srgbClr val="FF0000"/>
              </a:solidFill>
              <a:cs typeface="Arial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5C4E92-9AC7-14C7-932D-2F3BAA3D0842}"/>
              </a:ext>
            </a:extLst>
          </p:cNvPr>
          <p:cNvCxnSpPr>
            <a:cxnSpLocks/>
          </p:cNvCxnSpPr>
          <p:nvPr/>
        </p:nvCxnSpPr>
        <p:spPr>
          <a:xfrm flipH="1" flipV="1">
            <a:off x="3669957" y="2640225"/>
            <a:ext cx="506629" cy="341871"/>
          </a:xfrm>
          <a:prstGeom prst="straightConnector1">
            <a:avLst/>
          </a:prstGeom>
          <a:ln w="22225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D165A0-BD98-E231-6F8A-C4B64A12417E}"/>
              </a:ext>
            </a:extLst>
          </p:cNvPr>
          <p:cNvSpPr txBox="1"/>
          <p:nvPr/>
        </p:nvSpPr>
        <p:spPr>
          <a:xfrm>
            <a:off x="3777744" y="2447464"/>
            <a:ext cx="3129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D78ACE-4586-A45B-EEFD-11233DF7CC0B}"/>
              </a:ext>
            </a:extLst>
          </p:cNvPr>
          <p:cNvSpPr/>
          <p:nvPr/>
        </p:nvSpPr>
        <p:spPr>
          <a:xfrm>
            <a:off x="2454362" y="1012739"/>
            <a:ext cx="1182128" cy="2759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5E98B9-AB90-C3CF-47D5-528DA8E3240E}"/>
              </a:ext>
            </a:extLst>
          </p:cNvPr>
          <p:cNvSpPr/>
          <p:nvPr/>
        </p:nvSpPr>
        <p:spPr>
          <a:xfrm>
            <a:off x="3360525" y="2485252"/>
            <a:ext cx="275965" cy="18329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E664C-AC3F-4039-0E11-A389D4467AEC}"/>
              </a:ext>
            </a:extLst>
          </p:cNvPr>
          <p:cNvSpPr txBox="1"/>
          <p:nvPr/>
        </p:nvSpPr>
        <p:spPr>
          <a:xfrm>
            <a:off x="4088027" y="1101810"/>
            <a:ext cx="19287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Arial"/>
              </a:rPr>
              <a:t>Click on Connect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67ACD3-9C9C-3C45-B5EC-BF02F78CAEE7}"/>
              </a:ext>
            </a:extLst>
          </p:cNvPr>
          <p:cNvSpPr txBox="1"/>
          <p:nvPr/>
        </p:nvSpPr>
        <p:spPr>
          <a:xfrm>
            <a:off x="4088028" y="2481649"/>
            <a:ext cx="2412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cs typeface="Arial"/>
              </a:rPr>
              <a:t>Select Mode menu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0FB6BE-F4FD-128F-E618-92E3A6609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242" y="1278023"/>
            <a:ext cx="2466975" cy="498157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C23043-09F2-7FB7-F596-981AE1324998}"/>
              </a:ext>
            </a:extLst>
          </p:cNvPr>
          <p:cNvCxnSpPr>
            <a:cxnSpLocks/>
          </p:cNvCxnSpPr>
          <p:nvPr/>
        </p:nvCxnSpPr>
        <p:spPr>
          <a:xfrm flipH="1" flipV="1">
            <a:off x="9137822" y="3247766"/>
            <a:ext cx="681682" cy="331574"/>
          </a:xfrm>
          <a:prstGeom prst="straightConnector1">
            <a:avLst/>
          </a:prstGeom>
          <a:ln w="22225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02555A-689B-AAE8-FAC5-F52AB1AB1B5B}"/>
              </a:ext>
            </a:extLst>
          </p:cNvPr>
          <p:cNvSpPr txBox="1"/>
          <p:nvPr/>
        </p:nvSpPr>
        <p:spPr>
          <a:xfrm>
            <a:off x="9173528" y="3013815"/>
            <a:ext cx="3129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  <a:cs typeface="Arial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282BD4-0B11-4AFB-5E11-3987FCCF7C72}"/>
              </a:ext>
            </a:extLst>
          </p:cNvPr>
          <p:cNvSpPr txBox="1"/>
          <p:nvPr/>
        </p:nvSpPr>
        <p:spPr>
          <a:xfrm>
            <a:off x="9123408" y="3634946"/>
            <a:ext cx="30820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cs typeface="Arial"/>
              </a:rPr>
              <a:t>Select "Under Reset" mode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E90815-8460-2B4C-1F4F-DD51460AD07B}"/>
              </a:ext>
            </a:extLst>
          </p:cNvPr>
          <p:cNvSpPr/>
          <p:nvPr/>
        </p:nvSpPr>
        <p:spPr>
          <a:xfrm>
            <a:off x="7613309" y="3072198"/>
            <a:ext cx="1336586" cy="19358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B4B3B-DF76-D0CB-85E9-94FE14E74FD7}"/>
              </a:ext>
            </a:extLst>
          </p:cNvPr>
          <p:cNvSpPr txBox="1"/>
          <p:nvPr/>
        </p:nvSpPr>
        <p:spPr>
          <a:xfrm>
            <a:off x="9483811" y="4911811"/>
            <a:ext cx="24823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Arial"/>
              </a:rPr>
              <a:t>After this, you can continue to flash the firmware normally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7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3C04-0E43-C4A2-7D32-D657457A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EA695E-F022-C010-246E-41F28409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/>
          <a:lstStyle/>
          <a:p>
            <a:pPr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Protocol/Port configuration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(version &gt; 8a)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80AC43C-B3B9-DE4F-DDAC-1C649C73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AFF6E2-E923-C419-E9E4-B1323FC46DC5}"/>
              </a:ext>
            </a:extLst>
          </p:cNvPr>
          <p:cNvSpPr txBox="1"/>
          <p:nvPr/>
        </p:nvSpPr>
        <p:spPr>
          <a:xfrm>
            <a:off x="2655709" y="22537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P1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E4999F-6CD6-EBCA-1C07-9AA562335ADC}"/>
              </a:ext>
            </a:extLst>
          </p:cNvPr>
          <p:cNvGrpSpPr/>
          <p:nvPr/>
        </p:nvGrpSpPr>
        <p:grpSpPr>
          <a:xfrm>
            <a:off x="2790719" y="2623052"/>
            <a:ext cx="331784" cy="1923820"/>
            <a:chOff x="1412889" y="3273418"/>
            <a:chExt cx="331784" cy="192382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FEF3A8D-FC9A-6454-BB9D-2F7D6B71B6BB}"/>
                </a:ext>
              </a:extLst>
            </p:cNvPr>
            <p:cNvGrpSpPr/>
            <p:nvPr/>
          </p:nvGrpSpPr>
          <p:grpSpPr>
            <a:xfrm>
              <a:off x="1412889" y="3273815"/>
              <a:ext cx="331784" cy="1923423"/>
              <a:chOff x="2374423" y="3199467"/>
              <a:chExt cx="331784" cy="1923423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CF55309-7C00-A034-5FF4-1EAC07E854E6}"/>
                  </a:ext>
                </a:extLst>
              </p:cNvPr>
              <p:cNvSpPr/>
              <p:nvPr/>
            </p:nvSpPr>
            <p:spPr>
              <a:xfrm>
                <a:off x="2374423" y="3199467"/>
                <a:ext cx="331784" cy="1923423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lang="en-US" dirty="0" err="1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7422787-822C-87DD-C377-700921ACDB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51336" y="3400507"/>
                <a:ext cx="182880" cy="18288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lang="en-US" dirty="0" err="1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8B16662-0F5C-8125-E8BD-8D2671BAA2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51336" y="3721871"/>
                <a:ext cx="182880" cy="18288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lang="en-US" dirty="0" err="1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838C911-8706-D2FC-AD52-48251CBD0B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48875" y="4069739"/>
                <a:ext cx="182880" cy="18288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lang="en-US" dirty="0" err="1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A492C50-B21E-996A-C34C-0FDAE14100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51336" y="4427552"/>
                <a:ext cx="182880" cy="18288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lang="en-US" dirty="0" err="1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3371EF9-2BCB-ACD7-D568-9B3F7D6694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51336" y="4775420"/>
                <a:ext cx="182880" cy="18288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lang="en-US" dirty="0" err="1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79C1E0-06C5-60ED-02B7-F5BD86C54453}"/>
                </a:ext>
              </a:extLst>
            </p:cNvPr>
            <p:cNvSpPr txBox="1"/>
            <p:nvPr/>
          </p:nvSpPr>
          <p:spPr>
            <a:xfrm>
              <a:off x="1451182" y="3273418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dirty="0"/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53EB52-B4AA-35C4-B01A-85807E1F1211}"/>
                </a:ext>
              </a:extLst>
            </p:cNvPr>
            <p:cNvSpPr txBox="1"/>
            <p:nvPr/>
          </p:nvSpPr>
          <p:spPr>
            <a:xfrm>
              <a:off x="1438612" y="3614355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dirty="0"/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962596-471A-F33E-3DBE-779E58A49164}"/>
                </a:ext>
              </a:extLst>
            </p:cNvPr>
            <p:cNvSpPr txBox="1"/>
            <p:nvPr/>
          </p:nvSpPr>
          <p:spPr>
            <a:xfrm>
              <a:off x="1438612" y="3960006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dirty="0"/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9A32BD3-17CB-3E48-A1A2-8C008ED64934}"/>
                </a:ext>
              </a:extLst>
            </p:cNvPr>
            <p:cNvSpPr txBox="1"/>
            <p:nvPr/>
          </p:nvSpPr>
          <p:spPr>
            <a:xfrm>
              <a:off x="1438612" y="4305657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dirty="0"/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C40FBAF-8476-ADC7-6C04-4567ED4BE2AC}"/>
                </a:ext>
              </a:extLst>
            </p:cNvPr>
            <p:cNvSpPr txBox="1"/>
            <p:nvPr/>
          </p:nvSpPr>
          <p:spPr>
            <a:xfrm>
              <a:off x="1438612" y="4651307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dirty="0"/>
                <a:t>5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D3B9849-7441-145A-76EE-F39A7847130B}"/>
              </a:ext>
            </a:extLst>
          </p:cNvPr>
          <p:cNvSpPr txBox="1"/>
          <p:nvPr/>
        </p:nvSpPr>
        <p:spPr>
          <a:xfrm>
            <a:off x="3427196" y="2577102"/>
            <a:ext cx="6499229" cy="19697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Pin 2 – Port selection </a:t>
            </a:r>
            <a:r>
              <a:rPr lang="en-US" baseline="30000" dirty="0"/>
              <a:t>(1)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1-2: jumper not fitted: port 1 – led D3 blinks 1 time </a:t>
            </a:r>
            <a:endParaRPr lang="en-US" sz="1600"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1-2: jumper fitted : port 2 – led D3 blinks 2 times</a:t>
            </a:r>
            <a:endParaRPr lang="en-US" sz="1600">
              <a:cs typeface="Arial"/>
            </a:endParaRPr>
          </a:p>
          <a:p>
            <a:pPr algn="l"/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Pin 4 – Protocol selection: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3-4: jumper not fitted – UDP – led D2 blinks 1 time</a:t>
            </a:r>
            <a:endParaRPr lang="en-US"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3-4: jumper fitted – TCP – led D2 blinks 2 times</a:t>
            </a:r>
            <a:endParaRPr lang="en-US">
              <a:cs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51117C-E179-C651-3018-13A7FA5AFAB2}"/>
              </a:ext>
            </a:extLst>
          </p:cNvPr>
          <p:cNvSpPr txBox="1"/>
          <p:nvPr/>
        </p:nvSpPr>
        <p:spPr>
          <a:xfrm flipH="1">
            <a:off x="1646286" y="6330968"/>
            <a:ext cx="3234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(1) USA version has only 1 port available</a:t>
            </a:r>
          </a:p>
        </p:txBody>
      </p:sp>
    </p:spTree>
    <p:extLst>
      <p:ext uri="{BB962C8B-B14F-4D97-AF65-F5344CB8AC3E}">
        <p14:creationId xmlns:p14="http://schemas.microsoft.com/office/powerpoint/2010/main" val="2455371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82A8EB-FA4A-CA41-E901-2B516F4F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Webserver</a:t>
            </a:r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6A684E-529B-0629-42A8-A4CBD2E9A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250" y="1835944"/>
            <a:ext cx="4381500" cy="390525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2E2F6E-C793-58CC-B1E0-D488B1C31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444" y="1714998"/>
            <a:ext cx="568642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21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3C701D-9ADA-4B03-AA4B-C96AF9ECD8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50B10-1E78-42AD-B41B-13C09282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34785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78DEF53-6BA0-4AE0-82C9-7FF45CA58409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2E95F74-78DE-4723-99D9-0EDA05B8C438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3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294DF564-4D7F-4CB2-B602-D07487BF8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C11AC4-D72E-45C2-987A-176079AF51FB}"/>
              </a:ext>
            </a:extLst>
          </p:cNvPr>
          <p:cNvGrpSpPr/>
          <p:nvPr/>
        </p:nvGrpSpPr>
        <p:grpSpPr>
          <a:xfrm>
            <a:off x="13050574" y="0"/>
            <a:ext cx="5935784" cy="2385268"/>
            <a:chOff x="13050574" y="0"/>
            <a:chExt cx="5935784" cy="23852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DC11DF-C48E-453F-A1B5-A6649B8DB2FF}"/>
                </a:ext>
              </a:extLst>
            </p:cNvPr>
            <p:cNvSpPr txBox="1"/>
            <p:nvPr/>
          </p:nvSpPr>
          <p:spPr>
            <a:xfrm>
              <a:off x="13050574" y="0"/>
              <a:ext cx="5935784" cy="23852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1080000" rtlCol="0">
              <a:spAutoFit/>
            </a:bodyPr>
            <a:lstStyle/>
            <a:p>
              <a:r>
                <a:rPr lang="en-US" sz="2400" dirty="0"/>
                <a:t>You can personalize this </a:t>
              </a:r>
            </a:p>
            <a:p>
              <a:r>
                <a:rPr lang="en-US" sz="2400" dirty="0"/>
                <a:t>last page with a short link</a:t>
              </a:r>
            </a:p>
            <a:p>
              <a:r>
                <a:rPr lang="en-US" sz="2400" dirty="0"/>
                <a:t>(ex. </a:t>
              </a:r>
              <a:r>
                <a:rPr lang="en-US" sz="2400" dirty="0">
                  <a:solidFill>
                    <a:schemeClr val="accent3"/>
                  </a:solidFill>
                </a:rPr>
                <a:t>www.st.com/shortlink</a:t>
              </a:r>
              <a:r>
                <a:rPr lang="en-US" sz="2400" dirty="0"/>
                <a:t>)</a:t>
              </a:r>
            </a:p>
            <a:p>
              <a:pPr>
                <a:spcBef>
                  <a:spcPts val="600"/>
                </a:spcBef>
              </a:pPr>
              <a:r>
                <a:rPr lang="en-US" sz="2400" dirty="0"/>
                <a:t>You can find a complete list of </a:t>
              </a:r>
              <a:br>
                <a:rPr lang="en-US" sz="2400" dirty="0"/>
              </a:br>
              <a:r>
                <a:rPr lang="en-US" sz="2400" dirty="0"/>
                <a:t>st.com short links on this page:</a:t>
              </a:r>
            </a:p>
            <a:p>
              <a:r>
                <a:rPr lang="en-US" sz="2400" dirty="0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http://seo.st.com/toolbox/shortcuts/</a:t>
              </a:r>
              <a:endParaRPr lang="en-US" sz="2400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17AADF4-D9A4-4FB4-955B-6A59A64BA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192580" y="216897"/>
              <a:ext cx="770076" cy="7700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6014467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4d79c82-e2ed-4723-9274-466bd8d27ffc}" enabled="1" method="Privileged" siteId="{75e027c9-20d5-47d5-b82f-77d7cd041e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</TotalTime>
  <Words>164</Words>
  <Application>Microsoft Office PowerPoint</Application>
  <PresentationFormat>Widescreen</PresentationFormat>
  <Paragraphs>29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ST PowerPoint Template 16x9</vt:lpstr>
      <vt:lpstr>Street Light Demo FW</vt:lpstr>
      <vt:lpstr>STM32CubeProgrammer – Pre-configuration</vt:lpstr>
      <vt:lpstr>Protocol/Port configuration (version &gt; 8a)</vt:lpstr>
      <vt:lpstr>Webserver</vt:lpstr>
      <vt:lpstr>Section title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Ricardo DE FREITAS</dc:creator>
  <cp:keywords>Template v1.19</cp:keywords>
  <cp:lastModifiedBy>Jose Ricardo DE FREITAS</cp:lastModifiedBy>
  <cp:revision>86</cp:revision>
  <dcterms:created xsi:type="dcterms:W3CDTF">2026-01-27T15:17:45Z</dcterms:created>
  <dcterms:modified xsi:type="dcterms:W3CDTF">2026-02-09T17:02:13Z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ST PowerPoint Template 16x9:43</vt:lpwstr>
  </property>
  <property fmtid="{D5CDD505-2E9C-101B-9397-08002B2CF9AE}" pid="3" name="ClassificationContentMarkingFooterText">
    <vt:lpwstr>ST Confidential</vt:lpwstr>
  </property>
</Properties>
</file>